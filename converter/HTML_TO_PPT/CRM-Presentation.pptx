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0"/>
            <a:ext cx="8229600" cy="1097280"/>
          </a:xfrm>
          <a:prstGeom prst="rect">
            <a:avLst/>
          </a:prstGeom>
          <a:noFill/>
          <a:ln/>
        </p:spPr>
        <p:txBody>
          <a:bodyPr wrap="square" rtlCol="0" anchor="ctr"/>
          <a:lstStyle/>
          <a:p>
            <a:pPr algn="ctr" indent="0" marL="0">
              <a:buNone/>
            </a:pPr>
            <a:r>
              <a:rPr lang="en-US" sz="5200" b="1" dirty="0">
                <a:solidFill>
                  <a:srgbClr val="1E3A8A"/>
                </a:solidFill>
                <a:latin typeface="Poppins" pitchFamily="34" charset="0"/>
                <a:ea typeface="Poppins" pitchFamily="34" charset="-122"/>
                <a:cs typeface="Poppins" pitchFamily="34" charset="-120"/>
              </a:rPr>
              <a:t>Operational CRM Overview</a:t>
            </a:r>
            <a:endParaRPr lang="en-US" sz="5200" dirty="0"/>
          </a:p>
        </p:txBody>
      </p:sp>
      <p:sp>
        <p:nvSpPr>
          <p:cNvPr id="3" name="Text 1"/>
          <p:cNvSpPr/>
          <p:nvPr/>
        </p:nvSpPr>
        <p:spPr>
          <a:xfrm>
            <a:off x="457200" y="3017520"/>
            <a:ext cx="8229600" cy="640080"/>
          </a:xfrm>
          <a:prstGeom prst="rect">
            <a:avLst/>
          </a:prstGeom>
          <a:noFill/>
          <a:ln/>
        </p:spPr>
        <p:txBody>
          <a:bodyPr wrap="square" rtlCol="0" anchor="ctr"/>
          <a:lstStyle/>
          <a:p>
            <a:pPr algn="ctr" indent="0" marL="0">
              <a:buNone/>
            </a:pPr>
            <a:r>
              <a:rPr lang="en-US" sz="2600" dirty="0">
                <a:solidFill>
                  <a:srgbClr val="3B82F6"/>
                </a:solidFill>
                <a:latin typeface="Poppins" pitchFamily="34" charset="0"/>
                <a:ea typeface="Poppins" pitchFamily="34" charset="-122"/>
                <a:cs typeface="Poppins" pitchFamily="34" charset="-120"/>
              </a:rPr>
              <a:t>Enhancing Customer Relationships through Operations</a:t>
            </a:r>
            <a:endParaRPr lang="en-US" sz="2600" dirty="0"/>
          </a:p>
        </p:txBody>
      </p:sp>
      <p:sp>
        <p:nvSpPr>
          <p:cNvPr id="4" name="Shape 2"/>
          <p:cNvSpPr/>
          <p:nvPr/>
        </p:nvSpPr>
        <p:spPr>
          <a:xfrm>
            <a:off x="1097280" y="4023360"/>
            <a:ext cx="6949440" cy="1645920"/>
          </a:xfrm>
          <a:prstGeom prst="rect">
            <a:avLst/>
          </a:prstGeom>
          <a:solidFill>
            <a:srgbClr val="F0F9FF"/>
          </a:solidFill>
          <a:ln w="38100">
            <a:solidFill>
              <a:srgbClr val="2563EB"/>
            </a:solidFill>
            <a:prstDash val="solid"/>
          </a:ln>
        </p:spPr>
      </p:sp>
      <p:sp>
        <p:nvSpPr>
          <p:cNvPr id="5" name="Text 3"/>
          <p:cNvSpPr/>
          <p:nvPr/>
        </p:nvSpPr>
        <p:spPr>
          <a:xfrm>
            <a:off x="1371600" y="4206240"/>
            <a:ext cx="6400800" cy="1280160"/>
          </a:xfrm>
          <a:prstGeom prst="rect">
            <a:avLst/>
          </a:prstGeom>
          <a:noFill/>
          <a:ln/>
        </p:spPr>
        <p:txBody>
          <a:bodyPr wrap="square" rtlCol="0" anchor="ctr"/>
          <a:lstStyle/>
          <a:p>
            <a:pPr algn="ctr" indent="0" marL="0">
              <a:buNone/>
            </a:pPr>
            <a:r>
              <a:rPr lang="en-US" sz="1600" dirty="0">
                <a:solidFill>
                  <a:srgbClr val="1E40AF"/>
                </a:solidFill>
                <a:latin typeface="Inter" pitchFamily="34" charset="0"/>
                <a:ea typeface="Inter" pitchFamily="34" charset="-122"/>
                <a:cs typeface="Inter" pitchFamily="34" charset="-120"/>
              </a:rPr>
              <a:t>Customer Relationship Management (CRM) is a technology and strategy for managing all your company's relationships and interactions with customers and potential customers, helping businesses streamline processes, build customer relationships, increase sales, improve customer service, and increase profitability.</a:t>
            </a:r>
            <a:endParaRPr lang="en-US" sz="1600" dirty="0"/>
          </a:p>
        </p:txBody>
      </p:sp>
      <p:sp>
        <p:nvSpPr>
          <p:cNvPr id="6" name="Shape 4"/>
          <p:cNvSpPr/>
          <p:nvPr/>
        </p:nvSpPr>
        <p:spPr>
          <a:xfrm>
            <a:off x="0" y="6263640"/>
            <a:ext cx="9144000" cy="137160"/>
          </a:xfrm>
          <a:prstGeom prst="rect">
            <a:avLst/>
          </a:prstGeom>
          <a:solidFill>
            <a:srgbClr val="2563E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Text 3"/>
          <p:cNvSpPr/>
          <p:nvPr/>
        </p:nvSpPr>
        <p:spPr>
          <a:xfrm>
            <a:off x="731520" y="1554480"/>
            <a:ext cx="3840480" cy="365760"/>
          </a:xfrm>
          <a:prstGeom prst="rect">
            <a:avLst/>
          </a:prstGeom>
          <a:noFill/>
          <a:ln/>
        </p:spPr>
        <p:txBody>
          <a:bodyPr wrap="square" rtlCol="0" anchor="ctr"/>
          <a:lstStyle/>
          <a:p>
            <a:pPr indent="0" marL="0">
              <a:buNone/>
            </a:pPr>
            <a:r>
              <a:rPr lang="en-US" sz="1900" b="1" dirty="0">
                <a:solidFill>
                  <a:srgbClr val="2563EB"/>
                </a:solidFill>
                <a:latin typeface="Poppins" pitchFamily="34" charset="0"/>
                <a:ea typeface="Poppins" pitchFamily="34" charset="-122"/>
                <a:cs typeface="Poppins" pitchFamily="34" charset="-120"/>
              </a:rPr>
              <a:t>📖 Definition</a:t>
            </a:r>
            <a:endParaRPr lang="en-US" sz="1900" dirty="0"/>
          </a:p>
        </p:txBody>
      </p:sp>
      <p:sp>
        <p:nvSpPr>
          <p:cNvPr id="6" name="Shape 4"/>
          <p:cNvSpPr/>
          <p:nvPr/>
        </p:nvSpPr>
        <p:spPr>
          <a:xfrm>
            <a:off x="731520" y="2011680"/>
            <a:ext cx="3840480" cy="3657600"/>
          </a:xfrm>
          <a:prstGeom prst="rect">
            <a:avLst/>
          </a:prstGeom>
          <a:solidFill>
            <a:srgbClr val="F0F9FF"/>
          </a:solidFill>
          <a:ln w="38100">
            <a:solidFill>
              <a:srgbClr val="2563EB"/>
            </a:solidFill>
            <a:prstDash val="solid"/>
          </a:ln>
        </p:spPr>
      </p:sp>
      <p:sp>
        <p:nvSpPr>
          <p:cNvPr id="7" name="Text 5"/>
          <p:cNvSpPr/>
          <p:nvPr/>
        </p:nvSpPr>
        <p:spPr>
          <a:xfrm>
            <a:off x="914400" y="2194560"/>
            <a:ext cx="3474720" cy="3291840"/>
          </a:xfrm>
          <a:prstGeom prst="rect">
            <a:avLst/>
          </a:prstGeom>
          <a:noFill/>
          <a:ln/>
        </p:spPr>
        <p:txBody>
          <a:bodyPr wrap="square" rtlCol="0" anchor="t"/>
          <a:lstStyle/>
          <a:p>
            <a:pPr indent="0" marL="0">
              <a:buNone/>
            </a:pPr>
            <a:r>
              <a:rPr lang="en-US" sz="1500" dirty="0">
                <a:solidFill>
                  <a:srgbClr val="1E40AF"/>
                </a:solidFill>
                <a:latin typeface="Inter" pitchFamily="34" charset="0"/>
                <a:ea typeface="Inter" pitchFamily="34" charset="-122"/>
                <a:cs typeface="Inter" pitchFamily="34" charset="-120"/>
              </a:rPr>
              <a:t>Operational CRM focuses on automating and improving customer-facing processes across sales, marketing, and service departments. It streamlines day-to-day operations to deliver consistent, efficient customer experiences throughout the entire customer lifecycle.</a:t>
            </a:r>
            <a:endParaRPr lang="en-US" sz="1500" dirty="0"/>
          </a:p>
        </p:txBody>
      </p:sp>
      <p:sp>
        <p:nvSpPr>
          <p:cNvPr id="8" name="Text 6"/>
          <p:cNvSpPr/>
          <p:nvPr/>
        </p:nvSpPr>
        <p:spPr>
          <a:xfrm>
            <a:off x="4754880" y="1554480"/>
            <a:ext cx="3657600" cy="365760"/>
          </a:xfrm>
          <a:prstGeom prst="rect">
            <a:avLst/>
          </a:prstGeom>
          <a:noFill/>
          <a:ln/>
        </p:spPr>
        <p:txBody>
          <a:bodyPr wrap="square" rtlCol="0" anchor="ctr"/>
          <a:lstStyle/>
          <a:p>
            <a:pPr indent="0" marL="0">
              <a:buNone/>
            </a:pPr>
            <a:r>
              <a:rPr lang="en-US" sz="1900" b="1" dirty="0">
                <a:solidFill>
                  <a:srgbClr val="1E3A8A"/>
                </a:solidFill>
                <a:latin typeface="Poppins" pitchFamily="34" charset="0"/>
                <a:ea typeface="Poppins" pitchFamily="34" charset="-122"/>
                <a:cs typeface="Poppins" pitchFamily="34" charset="-120"/>
              </a:rPr>
              <a:t>Key Functions</a:t>
            </a:r>
            <a:endParaRPr lang="en-US" sz="1900" dirty="0"/>
          </a:p>
        </p:txBody>
      </p:sp>
      <p:sp>
        <p:nvSpPr>
          <p:cNvPr id="9" name="Shape 7"/>
          <p:cNvSpPr/>
          <p:nvPr/>
        </p:nvSpPr>
        <p:spPr>
          <a:xfrm>
            <a:off x="4754880" y="2103120"/>
            <a:ext cx="3657600" cy="685800"/>
          </a:xfrm>
          <a:prstGeom prst="rect">
            <a:avLst/>
          </a:prstGeom>
          <a:solidFill>
            <a:srgbClr val="FFFFFF"/>
          </a:solidFill>
          <a:ln w="25400">
            <a:solidFill>
              <a:srgbClr val="E0F2FE"/>
            </a:solidFill>
            <a:prstDash val="solid"/>
          </a:ln>
        </p:spPr>
      </p:sp>
      <p:sp>
        <p:nvSpPr>
          <p:cNvPr id="10" name="Text 8"/>
          <p:cNvSpPr/>
          <p:nvPr/>
        </p:nvSpPr>
        <p:spPr>
          <a:xfrm>
            <a:off x="4892040" y="2194560"/>
            <a:ext cx="3383280" cy="502920"/>
          </a:xfrm>
          <a:prstGeom prst="rect">
            <a:avLst/>
          </a:prstGeom>
          <a:noFill/>
          <a:ln/>
        </p:spPr>
        <p:txBody>
          <a:bodyPr wrap="square" rtlCol="0" anchor="ctr"/>
          <a:lstStyle/>
          <a:p>
            <a:pPr indent="0" marL="0">
              <a:buNone/>
            </a:pPr>
            <a:r>
              <a:rPr lang="en-US" sz="1500" dirty="0">
                <a:solidFill>
                  <a:srgbClr val="1E40AF"/>
                </a:solidFill>
                <a:latin typeface="Inter" pitchFamily="34" charset="0"/>
                <a:ea typeface="Inter" pitchFamily="34" charset="-122"/>
                <a:cs typeface="Inter" pitchFamily="34" charset="-120"/>
              </a:rPr>
              <a:t>• Sales Automation</a:t>
            </a:r>
            <a:endParaRPr lang="en-US" sz="1500" dirty="0"/>
          </a:p>
        </p:txBody>
      </p:sp>
      <p:sp>
        <p:nvSpPr>
          <p:cNvPr id="11" name="Shape 9"/>
          <p:cNvSpPr/>
          <p:nvPr/>
        </p:nvSpPr>
        <p:spPr>
          <a:xfrm>
            <a:off x="4754880" y="2971800"/>
            <a:ext cx="3657600" cy="685800"/>
          </a:xfrm>
          <a:prstGeom prst="rect">
            <a:avLst/>
          </a:prstGeom>
          <a:solidFill>
            <a:srgbClr val="FFFFFF"/>
          </a:solidFill>
          <a:ln w="25400">
            <a:solidFill>
              <a:srgbClr val="E0F2FE"/>
            </a:solidFill>
            <a:prstDash val="solid"/>
          </a:ln>
        </p:spPr>
      </p:sp>
      <p:sp>
        <p:nvSpPr>
          <p:cNvPr id="12" name="Text 10"/>
          <p:cNvSpPr/>
          <p:nvPr/>
        </p:nvSpPr>
        <p:spPr>
          <a:xfrm>
            <a:off x="4892040" y="3063240"/>
            <a:ext cx="3383280" cy="502920"/>
          </a:xfrm>
          <a:prstGeom prst="rect">
            <a:avLst/>
          </a:prstGeom>
          <a:noFill/>
          <a:ln/>
        </p:spPr>
        <p:txBody>
          <a:bodyPr wrap="square" rtlCol="0" anchor="ctr"/>
          <a:lstStyle/>
          <a:p>
            <a:pPr indent="0" marL="0">
              <a:buNone/>
            </a:pPr>
            <a:r>
              <a:rPr lang="en-US" sz="1500" dirty="0">
                <a:solidFill>
                  <a:srgbClr val="1E40AF"/>
                </a:solidFill>
                <a:latin typeface="Inter" pitchFamily="34" charset="0"/>
                <a:ea typeface="Inter" pitchFamily="34" charset="-122"/>
                <a:cs typeface="Inter" pitchFamily="34" charset="-120"/>
              </a:rPr>
              <a:t>• Marketing Automation</a:t>
            </a:r>
            <a:endParaRPr lang="en-US" sz="1500" dirty="0"/>
          </a:p>
        </p:txBody>
      </p:sp>
      <p:sp>
        <p:nvSpPr>
          <p:cNvPr id="13" name="Shape 11"/>
          <p:cNvSpPr/>
          <p:nvPr/>
        </p:nvSpPr>
        <p:spPr>
          <a:xfrm>
            <a:off x="4754880" y="3840480"/>
            <a:ext cx="3657600" cy="685800"/>
          </a:xfrm>
          <a:prstGeom prst="rect">
            <a:avLst/>
          </a:prstGeom>
          <a:solidFill>
            <a:srgbClr val="FFFFFF"/>
          </a:solidFill>
          <a:ln w="25400">
            <a:solidFill>
              <a:srgbClr val="E0F2FE"/>
            </a:solidFill>
            <a:prstDash val="solid"/>
          </a:ln>
        </p:spPr>
      </p:sp>
      <p:sp>
        <p:nvSpPr>
          <p:cNvPr id="14" name="Text 12"/>
          <p:cNvSpPr/>
          <p:nvPr/>
        </p:nvSpPr>
        <p:spPr>
          <a:xfrm>
            <a:off x="4892040" y="3931920"/>
            <a:ext cx="3383280" cy="502920"/>
          </a:xfrm>
          <a:prstGeom prst="rect">
            <a:avLst/>
          </a:prstGeom>
          <a:noFill/>
          <a:ln/>
        </p:spPr>
        <p:txBody>
          <a:bodyPr wrap="square" rtlCol="0" anchor="ctr"/>
          <a:lstStyle/>
          <a:p>
            <a:pPr indent="0" marL="0">
              <a:buNone/>
            </a:pPr>
            <a:r>
              <a:rPr lang="en-US" sz="1500" dirty="0">
                <a:solidFill>
                  <a:srgbClr val="1E40AF"/>
                </a:solidFill>
                <a:latin typeface="Inter" pitchFamily="34" charset="0"/>
                <a:ea typeface="Inter" pitchFamily="34" charset="-122"/>
                <a:cs typeface="Inter" pitchFamily="34" charset="-120"/>
              </a:rPr>
              <a:t>• Service Automation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Shape 3"/>
          <p:cNvSpPr/>
          <p:nvPr/>
        </p:nvSpPr>
        <p:spPr>
          <a:xfrm>
            <a:off x="731520" y="1645920"/>
            <a:ext cx="2651760" cy="4206240"/>
          </a:xfrm>
          <a:prstGeom prst="rect">
            <a:avLst/>
          </a:prstGeom>
          <a:solidFill>
            <a:srgbClr val="FFFFFF"/>
          </a:solidFill>
          <a:ln w="25400">
            <a:solidFill>
              <a:srgbClr val="2563EB"/>
            </a:solidFill>
            <a:prstDash val="solid"/>
          </a:ln>
        </p:spPr>
      </p:sp>
      <p:sp>
        <p:nvSpPr>
          <p:cNvPr id="6" name="Shape 4"/>
          <p:cNvSpPr/>
          <p:nvPr/>
        </p:nvSpPr>
        <p:spPr>
          <a:xfrm>
            <a:off x="731520" y="1645920"/>
            <a:ext cx="2651760" cy="73152"/>
          </a:xfrm>
          <a:prstGeom prst="rect">
            <a:avLst/>
          </a:prstGeom>
          <a:solidFill>
            <a:srgbClr val="2563EB"/>
          </a:solidFill>
          <a:ln/>
        </p:spPr>
      </p:sp>
      <p:sp>
        <p:nvSpPr>
          <p:cNvPr id="7" name="Text 5"/>
          <p:cNvSpPr/>
          <p:nvPr/>
        </p:nvSpPr>
        <p:spPr>
          <a:xfrm>
            <a:off x="8229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Purpose</a:t>
            </a:r>
            <a:endParaRPr lang="en-US" sz="2000" dirty="0"/>
          </a:p>
        </p:txBody>
      </p:sp>
      <p:sp>
        <p:nvSpPr>
          <p:cNvPr id="8" name="Text 6"/>
          <p:cNvSpPr/>
          <p:nvPr/>
        </p:nvSpPr>
        <p:spPr>
          <a:xfrm>
            <a:off x="868680" y="2423160"/>
            <a:ext cx="2377440" cy="3108960"/>
          </a:xfrm>
          <a:prstGeom prst="rect">
            <a:avLst/>
          </a:prstGeom>
          <a:noFill/>
          <a:ln/>
        </p:spPr>
        <p:txBody>
          <a:bodyPr wrap="square" rtlCol="0" anchor="t"/>
          <a:lstStyle/>
          <a:p>
            <a:pPr algn="ctr" indent="0" marL="0">
              <a:buNone/>
            </a:pPr>
            <a:r>
              <a:rPr lang="en-US" sz="1400" dirty="0">
                <a:solidFill>
                  <a:srgbClr val="334155"/>
                </a:solidFill>
                <a:latin typeface="Inter" pitchFamily="34" charset="0"/>
                <a:ea typeface="Inter" pitchFamily="34" charset="-122"/>
                <a:cs typeface="Inter" pitchFamily="34" charset="-120"/>
              </a:rPr>
              <a:t>Streamlining sales processes to increase efficiency, reduce manual tasks, and enable sales teams to focus on building relationships and closing deals faster.</a:t>
            </a:r>
            <a:endParaRPr lang="en-US" sz="1400" dirty="0"/>
          </a:p>
        </p:txBody>
      </p:sp>
      <p:sp>
        <p:nvSpPr>
          <p:cNvPr id="9" name="Shape 7"/>
          <p:cNvSpPr/>
          <p:nvPr/>
        </p:nvSpPr>
        <p:spPr>
          <a:xfrm>
            <a:off x="3703320" y="1645920"/>
            <a:ext cx="2651760" cy="4206240"/>
          </a:xfrm>
          <a:prstGeom prst="rect">
            <a:avLst/>
          </a:prstGeom>
          <a:solidFill>
            <a:srgbClr val="FFFFFF"/>
          </a:solidFill>
          <a:ln w="25400">
            <a:solidFill>
              <a:srgbClr val="10B981"/>
            </a:solidFill>
            <a:prstDash val="solid"/>
          </a:ln>
        </p:spPr>
      </p:sp>
      <p:sp>
        <p:nvSpPr>
          <p:cNvPr id="10" name="Shape 8"/>
          <p:cNvSpPr/>
          <p:nvPr/>
        </p:nvSpPr>
        <p:spPr>
          <a:xfrm>
            <a:off x="3703320" y="1645920"/>
            <a:ext cx="2651760" cy="73152"/>
          </a:xfrm>
          <a:prstGeom prst="rect">
            <a:avLst/>
          </a:prstGeom>
          <a:solidFill>
            <a:srgbClr val="10B981"/>
          </a:solidFill>
          <a:ln/>
        </p:spPr>
      </p:sp>
      <p:sp>
        <p:nvSpPr>
          <p:cNvPr id="11" name="Text 9"/>
          <p:cNvSpPr/>
          <p:nvPr/>
        </p:nvSpPr>
        <p:spPr>
          <a:xfrm>
            <a:off x="37947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Features</a:t>
            </a:r>
            <a:endParaRPr lang="en-US" sz="2000" dirty="0"/>
          </a:p>
        </p:txBody>
      </p:sp>
      <p:sp>
        <p:nvSpPr>
          <p:cNvPr id="12" name="Text 10"/>
          <p:cNvSpPr/>
          <p:nvPr/>
        </p:nvSpPr>
        <p:spPr>
          <a:xfrm>
            <a:off x="38404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Lead management and scoring</a:t>
            </a:r>
            <a:endParaRPr lang="en-US" sz="1300" dirty="0"/>
          </a:p>
        </p:txBody>
      </p:sp>
      <p:sp>
        <p:nvSpPr>
          <p:cNvPr id="13" name="Text 11"/>
          <p:cNvSpPr/>
          <p:nvPr/>
        </p:nvSpPr>
        <p:spPr>
          <a:xfrm>
            <a:off x="38404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Opportunity tracking and pipeline visualization</a:t>
            </a:r>
            <a:endParaRPr lang="en-US" sz="1300" dirty="0"/>
          </a:p>
        </p:txBody>
      </p:sp>
      <p:sp>
        <p:nvSpPr>
          <p:cNvPr id="14" name="Text 12"/>
          <p:cNvSpPr/>
          <p:nvPr/>
        </p:nvSpPr>
        <p:spPr>
          <a:xfrm>
            <a:off x="38404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Sales forecasting and analytics</a:t>
            </a:r>
            <a:endParaRPr lang="en-US" sz="1300" dirty="0"/>
          </a:p>
        </p:txBody>
      </p:sp>
      <p:sp>
        <p:nvSpPr>
          <p:cNvPr id="15" name="Text 13"/>
          <p:cNvSpPr/>
          <p:nvPr/>
        </p:nvSpPr>
        <p:spPr>
          <a:xfrm>
            <a:off x="38404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Contact and account management</a:t>
            </a:r>
            <a:endParaRPr lang="en-US" sz="1300" dirty="0"/>
          </a:p>
        </p:txBody>
      </p:sp>
      <p:sp>
        <p:nvSpPr>
          <p:cNvPr id="16" name="Shape 14"/>
          <p:cNvSpPr/>
          <p:nvPr/>
        </p:nvSpPr>
        <p:spPr>
          <a:xfrm>
            <a:off x="6675120" y="1645920"/>
            <a:ext cx="2651760" cy="4206240"/>
          </a:xfrm>
          <a:prstGeom prst="rect">
            <a:avLst/>
          </a:prstGeom>
          <a:solidFill>
            <a:srgbClr val="FFFFFF"/>
          </a:solidFill>
          <a:ln w="25400">
            <a:solidFill>
              <a:srgbClr val="8B5CF6"/>
            </a:solidFill>
            <a:prstDash val="solid"/>
          </a:ln>
        </p:spPr>
      </p:sp>
      <p:sp>
        <p:nvSpPr>
          <p:cNvPr id="17" name="Shape 15"/>
          <p:cNvSpPr/>
          <p:nvPr/>
        </p:nvSpPr>
        <p:spPr>
          <a:xfrm>
            <a:off x="6675120" y="1645920"/>
            <a:ext cx="2651760" cy="73152"/>
          </a:xfrm>
          <a:prstGeom prst="rect">
            <a:avLst/>
          </a:prstGeom>
          <a:solidFill>
            <a:srgbClr val="8B5CF6"/>
          </a:solidFill>
          <a:ln/>
        </p:spPr>
      </p:sp>
      <p:sp>
        <p:nvSpPr>
          <p:cNvPr id="18" name="Text 16"/>
          <p:cNvSpPr/>
          <p:nvPr/>
        </p:nvSpPr>
        <p:spPr>
          <a:xfrm>
            <a:off x="67665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Benefits</a:t>
            </a:r>
            <a:endParaRPr lang="en-US" sz="2000" dirty="0"/>
          </a:p>
        </p:txBody>
      </p:sp>
      <p:sp>
        <p:nvSpPr>
          <p:cNvPr id="19" name="Text 17"/>
          <p:cNvSpPr/>
          <p:nvPr/>
        </p:nvSpPr>
        <p:spPr>
          <a:xfrm>
            <a:off x="68122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Improved sales performance and productivity</a:t>
            </a:r>
            <a:endParaRPr lang="en-US" sz="1300" dirty="0"/>
          </a:p>
        </p:txBody>
      </p:sp>
      <p:sp>
        <p:nvSpPr>
          <p:cNvPr id="20" name="Text 18"/>
          <p:cNvSpPr/>
          <p:nvPr/>
        </p:nvSpPr>
        <p:spPr>
          <a:xfrm>
            <a:off x="68122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Better pipeline visibility and management</a:t>
            </a:r>
            <a:endParaRPr lang="en-US" sz="1300" dirty="0"/>
          </a:p>
        </p:txBody>
      </p:sp>
      <p:sp>
        <p:nvSpPr>
          <p:cNvPr id="21" name="Text 19"/>
          <p:cNvSpPr/>
          <p:nvPr/>
        </p:nvSpPr>
        <p:spPr>
          <a:xfrm>
            <a:off x="68122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Shortened sales cycles</a:t>
            </a:r>
            <a:endParaRPr lang="en-US" sz="1300" dirty="0"/>
          </a:p>
        </p:txBody>
      </p:sp>
      <p:sp>
        <p:nvSpPr>
          <p:cNvPr id="22" name="Text 20"/>
          <p:cNvSpPr/>
          <p:nvPr/>
        </p:nvSpPr>
        <p:spPr>
          <a:xfrm>
            <a:off x="68122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Increased revenue and conversion rates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Shape 3"/>
          <p:cNvSpPr/>
          <p:nvPr/>
        </p:nvSpPr>
        <p:spPr>
          <a:xfrm>
            <a:off x="731520" y="1645920"/>
            <a:ext cx="2651760" cy="4206240"/>
          </a:xfrm>
          <a:prstGeom prst="rect">
            <a:avLst/>
          </a:prstGeom>
          <a:solidFill>
            <a:srgbClr val="FFFFFF"/>
          </a:solidFill>
          <a:ln w="25400">
            <a:solidFill>
              <a:srgbClr val="2563EB"/>
            </a:solidFill>
            <a:prstDash val="solid"/>
          </a:ln>
        </p:spPr>
      </p:sp>
      <p:sp>
        <p:nvSpPr>
          <p:cNvPr id="6" name="Shape 4"/>
          <p:cNvSpPr/>
          <p:nvPr/>
        </p:nvSpPr>
        <p:spPr>
          <a:xfrm>
            <a:off x="731520" y="1645920"/>
            <a:ext cx="2651760" cy="73152"/>
          </a:xfrm>
          <a:prstGeom prst="rect">
            <a:avLst/>
          </a:prstGeom>
          <a:solidFill>
            <a:srgbClr val="2563EB"/>
          </a:solidFill>
          <a:ln/>
        </p:spPr>
      </p:sp>
      <p:sp>
        <p:nvSpPr>
          <p:cNvPr id="7" name="Text 5"/>
          <p:cNvSpPr/>
          <p:nvPr/>
        </p:nvSpPr>
        <p:spPr>
          <a:xfrm>
            <a:off x="8229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Purpose</a:t>
            </a:r>
            <a:endParaRPr lang="en-US" sz="2000" dirty="0"/>
          </a:p>
        </p:txBody>
      </p:sp>
      <p:sp>
        <p:nvSpPr>
          <p:cNvPr id="8" name="Text 6"/>
          <p:cNvSpPr/>
          <p:nvPr/>
        </p:nvSpPr>
        <p:spPr>
          <a:xfrm>
            <a:off x="868680" y="2423160"/>
            <a:ext cx="2377440" cy="3108960"/>
          </a:xfrm>
          <a:prstGeom prst="rect">
            <a:avLst/>
          </a:prstGeom>
          <a:noFill/>
          <a:ln/>
        </p:spPr>
        <p:txBody>
          <a:bodyPr wrap="square" rtlCol="0" anchor="t"/>
          <a:lstStyle/>
          <a:p>
            <a:pPr algn="ctr" indent="0" marL="0">
              <a:buNone/>
            </a:pPr>
            <a:r>
              <a:rPr lang="en-US" sz="1400" dirty="0">
                <a:solidFill>
                  <a:srgbClr val="334155"/>
                </a:solidFill>
                <a:latin typeface="Inter" pitchFamily="34" charset="0"/>
                <a:ea typeface="Inter" pitchFamily="34" charset="-122"/>
                <a:cs typeface="Inter" pitchFamily="34" charset="-120"/>
              </a:rPr>
              <a:t>Automating marketing activities to attract and retain customers, streamline campaigns, and deliver personalized experiences that drive engagement and conversion.</a:t>
            </a:r>
            <a:endParaRPr lang="en-US" sz="1400" dirty="0"/>
          </a:p>
        </p:txBody>
      </p:sp>
      <p:sp>
        <p:nvSpPr>
          <p:cNvPr id="9" name="Shape 7"/>
          <p:cNvSpPr/>
          <p:nvPr/>
        </p:nvSpPr>
        <p:spPr>
          <a:xfrm>
            <a:off x="3703320" y="1645920"/>
            <a:ext cx="2651760" cy="4206240"/>
          </a:xfrm>
          <a:prstGeom prst="rect">
            <a:avLst/>
          </a:prstGeom>
          <a:solidFill>
            <a:srgbClr val="FFFFFF"/>
          </a:solidFill>
          <a:ln w="25400">
            <a:solidFill>
              <a:srgbClr val="10B981"/>
            </a:solidFill>
            <a:prstDash val="solid"/>
          </a:ln>
        </p:spPr>
      </p:sp>
      <p:sp>
        <p:nvSpPr>
          <p:cNvPr id="10" name="Shape 8"/>
          <p:cNvSpPr/>
          <p:nvPr/>
        </p:nvSpPr>
        <p:spPr>
          <a:xfrm>
            <a:off x="3703320" y="1645920"/>
            <a:ext cx="2651760" cy="73152"/>
          </a:xfrm>
          <a:prstGeom prst="rect">
            <a:avLst/>
          </a:prstGeom>
          <a:solidFill>
            <a:srgbClr val="10B981"/>
          </a:solidFill>
          <a:ln/>
        </p:spPr>
      </p:sp>
      <p:sp>
        <p:nvSpPr>
          <p:cNvPr id="11" name="Text 9"/>
          <p:cNvSpPr/>
          <p:nvPr/>
        </p:nvSpPr>
        <p:spPr>
          <a:xfrm>
            <a:off x="37947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Features</a:t>
            </a:r>
            <a:endParaRPr lang="en-US" sz="2000" dirty="0"/>
          </a:p>
        </p:txBody>
      </p:sp>
      <p:sp>
        <p:nvSpPr>
          <p:cNvPr id="12" name="Text 10"/>
          <p:cNvSpPr/>
          <p:nvPr/>
        </p:nvSpPr>
        <p:spPr>
          <a:xfrm>
            <a:off x="38404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Campaign management and execution</a:t>
            </a:r>
            <a:endParaRPr lang="en-US" sz="1300" dirty="0"/>
          </a:p>
        </p:txBody>
      </p:sp>
      <p:sp>
        <p:nvSpPr>
          <p:cNvPr id="13" name="Text 11"/>
          <p:cNvSpPr/>
          <p:nvPr/>
        </p:nvSpPr>
        <p:spPr>
          <a:xfrm>
            <a:off x="38404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Lead nurturing and scoring</a:t>
            </a:r>
            <a:endParaRPr lang="en-US" sz="1300" dirty="0"/>
          </a:p>
        </p:txBody>
      </p:sp>
      <p:sp>
        <p:nvSpPr>
          <p:cNvPr id="14" name="Text 12"/>
          <p:cNvSpPr/>
          <p:nvPr/>
        </p:nvSpPr>
        <p:spPr>
          <a:xfrm>
            <a:off x="38404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Email marketing automation</a:t>
            </a:r>
            <a:endParaRPr lang="en-US" sz="1300" dirty="0"/>
          </a:p>
        </p:txBody>
      </p:sp>
      <p:sp>
        <p:nvSpPr>
          <p:cNvPr id="15" name="Text 13"/>
          <p:cNvSpPr/>
          <p:nvPr/>
        </p:nvSpPr>
        <p:spPr>
          <a:xfrm>
            <a:off x="38404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Analytics and performance tracking</a:t>
            </a:r>
            <a:endParaRPr lang="en-US" sz="1300" dirty="0"/>
          </a:p>
        </p:txBody>
      </p:sp>
      <p:sp>
        <p:nvSpPr>
          <p:cNvPr id="16" name="Shape 14"/>
          <p:cNvSpPr/>
          <p:nvPr/>
        </p:nvSpPr>
        <p:spPr>
          <a:xfrm>
            <a:off x="6675120" y="1645920"/>
            <a:ext cx="2651760" cy="4206240"/>
          </a:xfrm>
          <a:prstGeom prst="rect">
            <a:avLst/>
          </a:prstGeom>
          <a:solidFill>
            <a:srgbClr val="FFFFFF"/>
          </a:solidFill>
          <a:ln w="25400">
            <a:solidFill>
              <a:srgbClr val="8B5CF6"/>
            </a:solidFill>
            <a:prstDash val="solid"/>
          </a:ln>
        </p:spPr>
      </p:sp>
      <p:sp>
        <p:nvSpPr>
          <p:cNvPr id="17" name="Shape 15"/>
          <p:cNvSpPr/>
          <p:nvPr/>
        </p:nvSpPr>
        <p:spPr>
          <a:xfrm>
            <a:off x="6675120" y="1645920"/>
            <a:ext cx="2651760" cy="73152"/>
          </a:xfrm>
          <a:prstGeom prst="rect">
            <a:avLst/>
          </a:prstGeom>
          <a:solidFill>
            <a:srgbClr val="8B5CF6"/>
          </a:solidFill>
          <a:ln/>
        </p:spPr>
      </p:sp>
      <p:sp>
        <p:nvSpPr>
          <p:cNvPr id="18" name="Text 16"/>
          <p:cNvSpPr/>
          <p:nvPr/>
        </p:nvSpPr>
        <p:spPr>
          <a:xfrm>
            <a:off x="67665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Benefits</a:t>
            </a:r>
            <a:endParaRPr lang="en-US" sz="2000" dirty="0"/>
          </a:p>
        </p:txBody>
      </p:sp>
      <p:sp>
        <p:nvSpPr>
          <p:cNvPr id="19" name="Text 17"/>
          <p:cNvSpPr/>
          <p:nvPr/>
        </p:nvSpPr>
        <p:spPr>
          <a:xfrm>
            <a:off x="68122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Targeted marketing campaigns</a:t>
            </a:r>
            <a:endParaRPr lang="en-US" sz="1300" dirty="0"/>
          </a:p>
        </p:txBody>
      </p:sp>
      <p:sp>
        <p:nvSpPr>
          <p:cNvPr id="20" name="Text 18"/>
          <p:cNvSpPr/>
          <p:nvPr/>
        </p:nvSpPr>
        <p:spPr>
          <a:xfrm>
            <a:off x="68122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Personalized customer communication</a:t>
            </a:r>
            <a:endParaRPr lang="en-US" sz="1300" dirty="0"/>
          </a:p>
        </p:txBody>
      </p:sp>
      <p:sp>
        <p:nvSpPr>
          <p:cNvPr id="21" name="Text 19"/>
          <p:cNvSpPr/>
          <p:nvPr/>
        </p:nvSpPr>
        <p:spPr>
          <a:xfrm>
            <a:off x="68122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Higher conversion rates and ROI</a:t>
            </a:r>
            <a:endParaRPr lang="en-US" sz="1300" dirty="0"/>
          </a:p>
        </p:txBody>
      </p:sp>
      <p:sp>
        <p:nvSpPr>
          <p:cNvPr id="22" name="Text 20"/>
          <p:cNvSpPr/>
          <p:nvPr/>
        </p:nvSpPr>
        <p:spPr>
          <a:xfrm>
            <a:off x="68122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Improved customer engagement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Shape 3"/>
          <p:cNvSpPr/>
          <p:nvPr/>
        </p:nvSpPr>
        <p:spPr>
          <a:xfrm>
            <a:off x="731520" y="1645920"/>
            <a:ext cx="2651760" cy="4206240"/>
          </a:xfrm>
          <a:prstGeom prst="rect">
            <a:avLst/>
          </a:prstGeom>
          <a:solidFill>
            <a:srgbClr val="FFFFFF"/>
          </a:solidFill>
          <a:ln w="25400">
            <a:solidFill>
              <a:srgbClr val="2563EB"/>
            </a:solidFill>
            <a:prstDash val="solid"/>
          </a:ln>
        </p:spPr>
      </p:sp>
      <p:sp>
        <p:nvSpPr>
          <p:cNvPr id="6" name="Shape 4"/>
          <p:cNvSpPr/>
          <p:nvPr/>
        </p:nvSpPr>
        <p:spPr>
          <a:xfrm>
            <a:off x="731520" y="1645920"/>
            <a:ext cx="2651760" cy="73152"/>
          </a:xfrm>
          <a:prstGeom prst="rect">
            <a:avLst/>
          </a:prstGeom>
          <a:solidFill>
            <a:srgbClr val="2563EB"/>
          </a:solidFill>
          <a:ln/>
        </p:spPr>
      </p:sp>
      <p:sp>
        <p:nvSpPr>
          <p:cNvPr id="7" name="Text 5"/>
          <p:cNvSpPr/>
          <p:nvPr/>
        </p:nvSpPr>
        <p:spPr>
          <a:xfrm>
            <a:off x="8229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Purpose</a:t>
            </a:r>
            <a:endParaRPr lang="en-US" sz="2000" dirty="0"/>
          </a:p>
        </p:txBody>
      </p:sp>
      <p:sp>
        <p:nvSpPr>
          <p:cNvPr id="8" name="Text 6"/>
          <p:cNvSpPr/>
          <p:nvPr/>
        </p:nvSpPr>
        <p:spPr>
          <a:xfrm>
            <a:off x="868680" y="2423160"/>
            <a:ext cx="2377440" cy="3108960"/>
          </a:xfrm>
          <a:prstGeom prst="rect">
            <a:avLst/>
          </a:prstGeom>
          <a:noFill/>
          <a:ln/>
        </p:spPr>
        <p:txBody>
          <a:bodyPr wrap="square" rtlCol="0" anchor="t"/>
          <a:lstStyle/>
          <a:p>
            <a:pPr algn="ctr" indent="0" marL="0">
              <a:buNone/>
            </a:pPr>
            <a:r>
              <a:rPr lang="en-US" sz="1400" dirty="0">
                <a:solidFill>
                  <a:srgbClr val="334155"/>
                </a:solidFill>
                <a:latin typeface="Inter" pitchFamily="34" charset="0"/>
                <a:ea typeface="Inter" pitchFamily="34" charset="-122"/>
                <a:cs typeface="Inter" pitchFamily="34" charset="-120"/>
              </a:rPr>
              <a:t>Enhancing customer service processes for better support by automating routine tasks, empowering customers with self-service options, and enabling support teams to deliver faster, more personalized assistance.</a:t>
            </a:r>
            <a:endParaRPr lang="en-US" sz="1400" dirty="0"/>
          </a:p>
        </p:txBody>
      </p:sp>
      <p:sp>
        <p:nvSpPr>
          <p:cNvPr id="9" name="Shape 7"/>
          <p:cNvSpPr/>
          <p:nvPr/>
        </p:nvSpPr>
        <p:spPr>
          <a:xfrm>
            <a:off x="3703320" y="1645920"/>
            <a:ext cx="2651760" cy="4206240"/>
          </a:xfrm>
          <a:prstGeom prst="rect">
            <a:avLst/>
          </a:prstGeom>
          <a:solidFill>
            <a:srgbClr val="FFFFFF"/>
          </a:solidFill>
          <a:ln w="25400">
            <a:solidFill>
              <a:srgbClr val="10B981"/>
            </a:solidFill>
            <a:prstDash val="solid"/>
          </a:ln>
        </p:spPr>
      </p:sp>
      <p:sp>
        <p:nvSpPr>
          <p:cNvPr id="10" name="Shape 8"/>
          <p:cNvSpPr/>
          <p:nvPr/>
        </p:nvSpPr>
        <p:spPr>
          <a:xfrm>
            <a:off x="3703320" y="1645920"/>
            <a:ext cx="2651760" cy="73152"/>
          </a:xfrm>
          <a:prstGeom prst="rect">
            <a:avLst/>
          </a:prstGeom>
          <a:solidFill>
            <a:srgbClr val="10B981"/>
          </a:solidFill>
          <a:ln/>
        </p:spPr>
      </p:sp>
      <p:sp>
        <p:nvSpPr>
          <p:cNvPr id="11" name="Text 9"/>
          <p:cNvSpPr/>
          <p:nvPr/>
        </p:nvSpPr>
        <p:spPr>
          <a:xfrm>
            <a:off x="37947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Features</a:t>
            </a:r>
            <a:endParaRPr lang="en-US" sz="2000" dirty="0"/>
          </a:p>
        </p:txBody>
      </p:sp>
      <p:sp>
        <p:nvSpPr>
          <p:cNvPr id="12" name="Text 10"/>
          <p:cNvSpPr/>
          <p:nvPr/>
        </p:nvSpPr>
        <p:spPr>
          <a:xfrm>
            <a:off x="38404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Ticketing system with automated routing</a:t>
            </a:r>
            <a:endParaRPr lang="en-US" sz="1300" dirty="0"/>
          </a:p>
        </p:txBody>
      </p:sp>
      <p:sp>
        <p:nvSpPr>
          <p:cNvPr id="13" name="Text 11"/>
          <p:cNvSpPr/>
          <p:nvPr/>
        </p:nvSpPr>
        <p:spPr>
          <a:xfrm>
            <a:off x="38404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Knowledge base and FAQ management</a:t>
            </a:r>
            <a:endParaRPr lang="en-US" sz="1300" dirty="0"/>
          </a:p>
        </p:txBody>
      </p:sp>
      <p:sp>
        <p:nvSpPr>
          <p:cNvPr id="14" name="Text 12"/>
          <p:cNvSpPr/>
          <p:nvPr/>
        </p:nvSpPr>
        <p:spPr>
          <a:xfrm>
            <a:off x="38404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Self-service portals and chatbots</a:t>
            </a:r>
            <a:endParaRPr lang="en-US" sz="1300" dirty="0"/>
          </a:p>
        </p:txBody>
      </p:sp>
      <p:sp>
        <p:nvSpPr>
          <p:cNvPr id="15" name="Text 13"/>
          <p:cNvSpPr/>
          <p:nvPr/>
        </p:nvSpPr>
        <p:spPr>
          <a:xfrm>
            <a:off x="38404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Case management and escalation workflows</a:t>
            </a:r>
            <a:endParaRPr lang="en-US" sz="1300" dirty="0"/>
          </a:p>
        </p:txBody>
      </p:sp>
      <p:sp>
        <p:nvSpPr>
          <p:cNvPr id="16" name="Shape 14"/>
          <p:cNvSpPr/>
          <p:nvPr/>
        </p:nvSpPr>
        <p:spPr>
          <a:xfrm>
            <a:off x="6675120" y="1645920"/>
            <a:ext cx="2651760" cy="4206240"/>
          </a:xfrm>
          <a:prstGeom prst="rect">
            <a:avLst/>
          </a:prstGeom>
          <a:solidFill>
            <a:srgbClr val="FFFFFF"/>
          </a:solidFill>
          <a:ln w="25400">
            <a:solidFill>
              <a:srgbClr val="8B5CF6"/>
            </a:solidFill>
            <a:prstDash val="solid"/>
          </a:ln>
        </p:spPr>
      </p:sp>
      <p:sp>
        <p:nvSpPr>
          <p:cNvPr id="17" name="Shape 15"/>
          <p:cNvSpPr/>
          <p:nvPr/>
        </p:nvSpPr>
        <p:spPr>
          <a:xfrm>
            <a:off x="6675120" y="1645920"/>
            <a:ext cx="2651760" cy="73152"/>
          </a:xfrm>
          <a:prstGeom prst="rect">
            <a:avLst/>
          </a:prstGeom>
          <a:solidFill>
            <a:srgbClr val="8B5CF6"/>
          </a:solidFill>
          <a:ln/>
        </p:spPr>
      </p:sp>
      <p:sp>
        <p:nvSpPr>
          <p:cNvPr id="18" name="Text 16"/>
          <p:cNvSpPr/>
          <p:nvPr/>
        </p:nvSpPr>
        <p:spPr>
          <a:xfrm>
            <a:off x="67665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Benefits</a:t>
            </a:r>
            <a:endParaRPr lang="en-US" sz="2000" dirty="0"/>
          </a:p>
        </p:txBody>
      </p:sp>
      <p:sp>
        <p:nvSpPr>
          <p:cNvPr id="19" name="Text 17"/>
          <p:cNvSpPr/>
          <p:nvPr/>
        </p:nvSpPr>
        <p:spPr>
          <a:xfrm>
            <a:off x="68122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Faster issue resolution and response times</a:t>
            </a:r>
            <a:endParaRPr lang="en-US" sz="1300" dirty="0"/>
          </a:p>
        </p:txBody>
      </p:sp>
      <p:sp>
        <p:nvSpPr>
          <p:cNvPr id="20" name="Text 18"/>
          <p:cNvSpPr/>
          <p:nvPr/>
        </p:nvSpPr>
        <p:spPr>
          <a:xfrm>
            <a:off x="68122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Improved customer satisfaction and loyalty</a:t>
            </a:r>
            <a:endParaRPr lang="en-US" sz="1300" dirty="0"/>
          </a:p>
        </p:txBody>
      </p:sp>
      <p:sp>
        <p:nvSpPr>
          <p:cNvPr id="21" name="Text 19"/>
          <p:cNvSpPr/>
          <p:nvPr/>
        </p:nvSpPr>
        <p:spPr>
          <a:xfrm>
            <a:off x="68122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Reduced support costs and agent workload</a:t>
            </a:r>
            <a:endParaRPr lang="en-US" sz="1300" dirty="0"/>
          </a:p>
        </p:txBody>
      </p:sp>
      <p:sp>
        <p:nvSpPr>
          <p:cNvPr id="22" name="Text 20"/>
          <p:cNvSpPr/>
          <p:nvPr/>
        </p:nvSpPr>
        <p:spPr>
          <a:xfrm>
            <a:off x="68122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24/7 customer support availability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CRM Presentation</dc:title>
  <dc:subject>PptxGenJS Presentation</dc:subject>
  <dc:creator>HTML to PPT Converter</dc:creator>
  <cp:lastModifiedBy>HTML to PPT Converter</cp:lastModifiedBy>
  <cp:revision>1</cp:revision>
  <dcterms:created xsi:type="dcterms:W3CDTF">2026-01-31T07:30:52Z</dcterms:created>
  <dcterms:modified xsi:type="dcterms:W3CDTF">2026-01-31T07:30:52Z</dcterms:modified>
</cp:coreProperties>
</file>